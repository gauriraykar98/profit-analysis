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8288000" cy="10287000"/>
  <p:notesSz cx="6858000" cy="9144000"/>
  <p:embeddedFontLst>
    <p:embeddedFont>
      <p:font typeface="Bryndan Write" charset="1" panose="02000503000000000000"/>
      <p:regular r:id="rId11"/>
    </p:embeddedFont>
    <p:embeddedFont>
      <p:font typeface="Varela Round" charset="1" panose="0000050000000000000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7.png" Type="http://schemas.openxmlformats.org/officeDocument/2006/relationships/image"/><Relationship Id="rId4" Target="../media/image2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7.png" Type="http://schemas.openxmlformats.org/officeDocument/2006/relationships/image"/><Relationship Id="rId4" Target="../media/image2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7.png" Type="http://schemas.openxmlformats.org/officeDocument/2006/relationships/image"/><Relationship Id="rId4" Target="../media/image2.pn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333" r="0" b="-3333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81072">
            <a:off x="15539908" y="7294587"/>
            <a:ext cx="2490234" cy="3276624"/>
          </a:xfrm>
          <a:custGeom>
            <a:avLst/>
            <a:gdLst/>
            <a:ahLst/>
            <a:cxnLst/>
            <a:rect r="r" b="b" t="t" l="l"/>
            <a:pathLst>
              <a:path h="3276624" w="2490234">
                <a:moveTo>
                  <a:pt x="0" y="0"/>
                </a:moveTo>
                <a:lnTo>
                  <a:pt x="2490234" y="0"/>
                </a:lnTo>
                <a:lnTo>
                  <a:pt x="2490234" y="3276623"/>
                </a:lnTo>
                <a:lnTo>
                  <a:pt x="0" y="32766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307105" y="6283301"/>
            <a:ext cx="4543877" cy="4305324"/>
          </a:xfrm>
          <a:custGeom>
            <a:avLst/>
            <a:gdLst/>
            <a:ahLst/>
            <a:cxnLst/>
            <a:rect r="r" b="b" t="t" l="l"/>
            <a:pathLst>
              <a:path h="4305324" w="4543877">
                <a:moveTo>
                  <a:pt x="0" y="0"/>
                </a:moveTo>
                <a:lnTo>
                  <a:pt x="4543877" y="0"/>
                </a:lnTo>
                <a:lnTo>
                  <a:pt x="4543877" y="4305324"/>
                </a:lnTo>
                <a:lnTo>
                  <a:pt x="0" y="43053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406657" y="2946004"/>
            <a:ext cx="13474686" cy="4790024"/>
            <a:chOff x="0" y="0"/>
            <a:chExt cx="3548888" cy="126157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548888" cy="1261570"/>
            </a:xfrm>
            <a:custGeom>
              <a:avLst/>
              <a:gdLst/>
              <a:ahLst/>
              <a:cxnLst/>
              <a:rect r="r" b="b" t="t" l="l"/>
              <a:pathLst>
                <a:path h="1261570" w="3548888">
                  <a:moveTo>
                    <a:pt x="29302" y="0"/>
                  </a:moveTo>
                  <a:lnTo>
                    <a:pt x="3519586" y="0"/>
                  </a:lnTo>
                  <a:cubicBezTo>
                    <a:pt x="3527358" y="0"/>
                    <a:pt x="3534811" y="3087"/>
                    <a:pt x="3540306" y="8582"/>
                  </a:cubicBezTo>
                  <a:cubicBezTo>
                    <a:pt x="3545801" y="14078"/>
                    <a:pt x="3548888" y="21531"/>
                    <a:pt x="3548888" y="29302"/>
                  </a:cubicBezTo>
                  <a:lnTo>
                    <a:pt x="3548888" y="1232268"/>
                  </a:lnTo>
                  <a:cubicBezTo>
                    <a:pt x="3548888" y="1240039"/>
                    <a:pt x="3545801" y="1247493"/>
                    <a:pt x="3540306" y="1252988"/>
                  </a:cubicBezTo>
                  <a:cubicBezTo>
                    <a:pt x="3534811" y="1258483"/>
                    <a:pt x="3527358" y="1261570"/>
                    <a:pt x="3519586" y="1261570"/>
                  </a:cubicBezTo>
                  <a:lnTo>
                    <a:pt x="29302" y="1261570"/>
                  </a:lnTo>
                  <a:cubicBezTo>
                    <a:pt x="13119" y="1261570"/>
                    <a:pt x="0" y="1248451"/>
                    <a:pt x="0" y="1232268"/>
                  </a:cubicBezTo>
                  <a:lnTo>
                    <a:pt x="0" y="29302"/>
                  </a:lnTo>
                  <a:cubicBezTo>
                    <a:pt x="0" y="13119"/>
                    <a:pt x="13119" y="0"/>
                    <a:pt x="29302" y="0"/>
                  </a:cubicBezTo>
                  <a:close/>
                </a:path>
              </a:pathLst>
            </a:custGeom>
            <a:solidFill>
              <a:srgbClr val="E3A6A8"/>
            </a:solidFill>
            <a:ln w="38100" cap="rnd">
              <a:solidFill>
                <a:srgbClr val="A6A6A6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3548888" cy="13187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472477">
            <a:off x="14461725" y="1786517"/>
            <a:ext cx="913498" cy="2025902"/>
          </a:xfrm>
          <a:custGeom>
            <a:avLst/>
            <a:gdLst/>
            <a:ahLst/>
            <a:cxnLst/>
            <a:rect r="r" b="b" t="t" l="l"/>
            <a:pathLst>
              <a:path h="2025902" w="913498">
                <a:moveTo>
                  <a:pt x="0" y="0"/>
                </a:moveTo>
                <a:lnTo>
                  <a:pt x="913498" y="0"/>
                </a:lnTo>
                <a:lnTo>
                  <a:pt x="913498" y="2025902"/>
                </a:lnTo>
                <a:lnTo>
                  <a:pt x="0" y="202590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2582791" y="7736029"/>
            <a:ext cx="13298552" cy="1196870"/>
          </a:xfrm>
          <a:custGeom>
            <a:avLst/>
            <a:gdLst/>
            <a:ahLst/>
            <a:cxnLst/>
            <a:rect r="r" b="b" t="t" l="l"/>
            <a:pathLst>
              <a:path h="1196870" w="13298552">
                <a:moveTo>
                  <a:pt x="0" y="0"/>
                </a:moveTo>
                <a:lnTo>
                  <a:pt x="13298552" y="0"/>
                </a:lnTo>
                <a:lnTo>
                  <a:pt x="13298552" y="1196869"/>
                </a:lnTo>
                <a:lnTo>
                  <a:pt x="0" y="11968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3105018">
            <a:off x="13082135" y="8356495"/>
            <a:ext cx="2490234" cy="3276624"/>
          </a:xfrm>
          <a:custGeom>
            <a:avLst/>
            <a:gdLst/>
            <a:ahLst/>
            <a:cxnLst/>
            <a:rect r="r" b="b" t="t" l="l"/>
            <a:pathLst>
              <a:path h="3276624" w="2490234">
                <a:moveTo>
                  <a:pt x="0" y="0"/>
                </a:moveTo>
                <a:lnTo>
                  <a:pt x="2490234" y="0"/>
                </a:lnTo>
                <a:lnTo>
                  <a:pt x="2490234" y="3276623"/>
                </a:lnTo>
                <a:lnTo>
                  <a:pt x="0" y="32766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-10218927">
            <a:off x="-49247" y="-285053"/>
            <a:ext cx="2490234" cy="3276624"/>
          </a:xfrm>
          <a:custGeom>
            <a:avLst/>
            <a:gdLst/>
            <a:ahLst/>
            <a:cxnLst/>
            <a:rect r="r" b="b" t="t" l="l"/>
            <a:pathLst>
              <a:path h="3276624" w="2490234">
                <a:moveTo>
                  <a:pt x="2490234" y="0"/>
                </a:moveTo>
                <a:lnTo>
                  <a:pt x="0" y="0"/>
                </a:lnTo>
                <a:lnTo>
                  <a:pt x="0" y="3276623"/>
                </a:lnTo>
                <a:lnTo>
                  <a:pt x="2490234" y="3276623"/>
                </a:lnTo>
                <a:lnTo>
                  <a:pt x="2490234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7694981">
            <a:off x="2408526" y="-1346961"/>
            <a:ext cx="2490234" cy="3276624"/>
          </a:xfrm>
          <a:custGeom>
            <a:avLst/>
            <a:gdLst/>
            <a:ahLst/>
            <a:cxnLst/>
            <a:rect r="r" b="b" t="t" l="l"/>
            <a:pathLst>
              <a:path h="3276624" w="2490234">
                <a:moveTo>
                  <a:pt x="2490234" y="0"/>
                </a:moveTo>
                <a:lnTo>
                  <a:pt x="0" y="0"/>
                </a:lnTo>
                <a:lnTo>
                  <a:pt x="0" y="3276623"/>
                </a:lnTo>
                <a:lnTo>
                  <a:pt x="2490234" y="3276623"/>
                </a:lnTo>
                <a:lnTo>
                  <a:pt x="2490234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5312589" y="5981676"/>
            <a:ext cx="1386318" cy="917599"/>
          </a:xfrm>
          <a:custGeom>
            <a:avLst/>
            <a:gdLst/>
            <a:ahLst/>
            <a:cxnLst/>
            <a:rect r="r" b="b" t="t" l="l"/>
            <a:pathLst>
              <a:path h="917599" w="1386318">
                <a:moveTo>
                  <a:pt x="0" y="0"/>
                </a:moveTo>
                <a:lnTo>
                  <a:pt x="1386318" y="0"/>
                </a:lnTo>
                <a:lnTo>
                  <a:pt x="1386318" y="917599"/>
                </a:lnTo>
                <a:lnTo>
                  <a:pt x="0" y="91759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3369526" y="3466399"/>
            <a:ext cx="11548948" cy="2788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560"/>
              </a:lnSpc>
            </a:pPr>
            <a:r>
              <a:rPr lang="en-US" sz="9600">
                <a:solidFill>
                  <a:srgbClr val="000000"/>
                </a:solidFill>
                <a:latin typeface="Bryndan Write"/>
                <a:ea typeface="Bryndan Write"/>
                <a:cs typeface="Bryndan Write"/>
                <a:sym typeface="Bryndan Write"/>
              </a:rPr>
              <a:t>PROFIT ANALYSIS OF BIKE SALES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333" r="0" b="-3333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698846" y="9239250"/>
            <a:ext cx="13298552" cy="1196870"/>
          </a:xfrm>
          <a:custGeom>
            <a:avLst/>
            <a:gdLst/>
            <a:ahLst/>
            <a:cxnLst/>
            <a:rect r="r" b="b" t="t" l="l"/>
            <a:pathLst>
              <a:path h="1196870" w="13298552">
                <a:moveTo>
                  <a:pt x="0" y="0"/>
                </a:moveTo>
                <a:lnTo>
                  <a:pt x="13298551" y="0"/>
                </a:lnTo>
                <a:lnTo>
                  <a:pt x="13298551" y="1196870"/>
                </a:lnTo>
                <a:lnTo>
                  <a:pt x="0" y="11968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81072">
            <a:off x="15539908" y="7294587"/>
            <a:ext cx="2490234" cy="3276624"/>
          </a:xfrm>
          <a:custGeom>
            <a:avLst/>
            <a:gdLst/>
            <a:ahLst/>
            <a:cxnLst/>
            <a:rect r="r" b="b" t="t" l="l"/>
            <a:pathLst>
              <a:path h="3276624" w="2490234">
                <a:moveTo>
                  <a:pt x="0" y="0"/>
                </a:moveTo>
                <a:lnTo>
                  <a:pt x="2490234" y="0"/>
                </a:lnTo>
                <a:lnTo>
                  <a:pt x="2490234" y="3276623"/>
                </a:lnTo>
                <a:lnTo>
                  <a:pt x="0" y="3276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3105018">
            <a:off x="13082135" y="8356495"/>
            <a:ext cx="2490234" cy="3276624"/>
          </a:xfrm>
          <a:custGeom>
            <a:avLst/>
            <a:gdLst/>
            <a:ahLst/>
            <a:cxnLst/>
            <a:rect r="r" b="b" t="t" l="l"/>
            <a:pathLst>
              <a:path h="3276624" w="2490234">
                <a:moveTo>
                  <a:pt x="0" y="0"/>
                </a:moveTo>
                <a:lnTo>
                  <a:pt x="2490234" y="0"/>
                </a:lnTo>
                <a:lnTo>
                  <a:pt x="2490234" y="3276623"/>
                </a:lnTo>
                <a:lnTo>
                  <a:pt x="0" y="3276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307105" y="6283301"/>
            <a:ext cx="4543877" cy="4305324"/>
          </a:xfrm>
          <a:custGeom>
            <a:avLst/>
            <a:gdLst/>
            <a:ahLst/>
            <a:cxnLst/>
            <a:rect r="r" b="b" t="t" l="l"/>
            <a:pathLst>
              <a:path h="4305324" w="4543877">
                <a:moveTo>
                  <a:pt x="0" y="0"/>
                </a:moveTo>
                <a:lnTo>
                  <a:pt x="4543877" y="0"/>
                </a:lnTo>
                <a:lnTo>
                  <a:pt x="4543877" y="4305324"/>
                </a:lnTo>
                <a:lnTo>
                  <a:pt x="0" y="430532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false" rot="-10218927">
            <a:off x="-49247" y="-285053"/>
            <a:ext cx="2490234" cy="3276624"/>
          </a:xfrm>
          <a:custGeom>
            <a:avLst/>
            <a:gdLst/>
            <a:ahLst/>
            <a:cxnLst/>
            <a:rect r="r" b="b" t="t" l="l"/>
            <a:pathLst>
              <a:path h="3276624" w="2490234">
                <a:moveTo>
                  <a:pt x="2490234" y="0"/>
                </a:moveTo>
                <a:lnTo>
                  <a:pt x="0" y="0"/>
                </a:lnTo>
                <a:lnTo>
                  <a:pt x="0" y="3276623"/>
                </a:lnTo>
                <a:lnTo>
                  <a:pt x="2490234" y="3276623"/>
                </a:lnTo>
                <a:lnTo>
                  <a:pt x="2490234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false" rot="7694981">
            <a:off x="2408526" y="-1346961"/>
            <a:ext cx="2490234" cy="3276624"/>
          </a:xfrm>
          <a:custGeom>
            <a:avLst/>
            <a:gdLst/>
            <a:ahLst/>
            <a:cxnLst/>
            <a:rect r="r" b="b" t="t" l="l"/>
            <a:pathLst>
              <a:path h="3276624" w="2490234">
                <a:moveTo>
                  <a:pt x="2490234" y="0"/>
                </a:moveTo>
                <a:lnTo>
                  <a:pt x="0" y="0"/>
                </a:lnTo>
                <a:lnTo>
                  <a:pt x="0" y="3276623"/>
                </a:lnTo>
                <a:lnTo>
                  <a:pt x="2490234" y="3276623"/>
                </a:lnTo>
                <a:lnTo>
                  <a:pt x="2490234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1026504" y="1028700"/>
            <a:ext cx="16230600" cy="8229600"/>
            <a:chOff x="0" y="0"/>
            <a:chExt cx="4274726" cy="216746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274726" cy="2167467"/>
            </a:xfrm>
            <a:custGeom>
              <a:avLst/>
              <a:gdLst/>
              <a:ahLst/>
              <a:cxnLst/>
              <a:rect r="r" b="b" t="t" l="l"/>
              <a:pathLst>
                <a:path h="2167467" w="4274726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E3A6A8"/>
            </a:solidFill>
            <a:ln w="38100" cap="rnd">
              <a:solidFill>
                <a:srgbClr val="A6A6A6"/>
              </a:solidFill>
              <a:prstDash val="solid"/>
              <a:round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57150"/>
              <a:ext cx="4274726" cy="22246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472477">
            <a:off x="15630383" y="47750"/>
            <a:ext cx="822623" cy="1824365"/>
          </a:xfrm>
          <a:custGeom>
            <a:avLst/>
            <a:gdLst/>
            <a:ahLst/>
            <a:cxnLst/>
            <a:rect r="r" b="b" t="t" l="l"/>
            <a:pathLst>
              <a:path h="1824365" w="822623">
                <a:moveTo>
                  <a:pt x="0" y="0"/>
                </a:moveTo>
                <a:lnTo>
                  <a:pt x="822622" y="0"/>
                </a:lnTo>
                <a:lnTo>
                  <a:pt x="822622" y="1824365"/>
                </a:lnTo>
                <a:lnTo>
                  <a:pt x="0" y="182436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2099361" y="2188178"/>
            <a:ext cx="14084886" cy="1314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600"/>
              </a:lnSpc>
              <a:spcBef>
                <a:spcPct val="0"/>
              </a:spcBef>
            </a:pPr>
            <a:r>
              <a:rPr lang="en-US" sz="8000">
                <a:solidFill>
                  <a:srgbClr val="000000"/>
                </a:solidFill>
                <a:latin typeface="Bryndan Write"/>
                <a:ea typeface="Bryndan Write"/>
                <a:cs typeface="Bryndan Write"/>
                <a:sym typeface="Bryndan Write"/>
              </a:rPr>
              <a:t>Introduction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455496" y="4294893"/>
            <a:ext cx="12353352" cy="247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626"/>
              </a:lnSpc>
              <a:spcBef>
                <a:spcPct val="0"/>
              </a:spcBef>
            </a:pPr>
            <a:r>
              <a:rPr lang="en-US" sz="4417">
                <a:solidFill>
                  <a:srgbClr val="000000"/>
                </a:solidFill>
                <a:latin typeface="Varela Round"/>
                <a:ea typeface="Varela Round"/>
                <a:cs typeface="Varela Round"/>
                <a:sym typeface="Varela Round"/>
              </a:rPr>
              <a:t>The main objective of this project is to analyze bike sales data to gain actionale insights that will inhance the performance 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333" r="0" b="-3333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698846" y="9239250"/>
            <a:ext cx="13298552" cy="1196870"/>
          </a:xfrm>
          <a:custGeom>
            <a:avLst/>
            <a:gdLst/>
            <a:ahLst/>
            <a:cxnLst/>
            <a:rect r="r" b="b" t="t" l="l"/>
            <a:pathLst>
              <a:path h="1196870" w="13298552">
                <a:moveTo>
                  <a:pt x="0" y="0"/>
                </a:moveTo>
                <a:lnTo>
                  <a:pt x="13298551" y="0"/>
                </a:lnTo>
                <a:lnTo>
                  <a:pt x="13298551" y="1196870"/>
                </a:lnTo>
                <a:lnTo>
                  <a:pt x="0" y="11968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81072">
            <a:off x="15539908" y="7294587"/>
            <a:ext cx="2490234" cy="3276624"/>
          </a:xfrm>
          <a:custGeom>
            <a:avLst/>
            <a:gdLst/>
            <a:ahLst/>
            <a:cxnLst/>
            <a:rect r="r" b="b" t="t" l="l"/>
            <a:pathLst>
              <a:path h="3276624" w="2490234">
                <a:moveTo>
                  <a:pt x="0" y="0"/>
                </a:moveTo>
                <a:lnTo>
                  <a:pt x="2490234" y="0"/>
                </a:lnTo>
                <a:lnTo>
                  <a:pt x="2490234" y="3276623"/>
                </a:lnTo>
                <a:lnTo>
                  <a:pt x="0" y="3276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3105018">
            <a:off x="13082135" y="8356495"/>
            <a:ext cx="2490234" cy="3276624"/>
          </a:xfrm>
          <a:custGeom>
            <a:avLst/>
            <a:gdLst/>
            <a:ahLst/>
            <a:cxnLst/>
            <a:rect r="r" b="b" t="t" l="l"/>
            <a:pathLst>
              <a:path h="3276624" w="2490234">
                <a:moveTo>
                  <a:pt x="0" y="0"/>
                </a:moveTo>
                <a:lnTo>
                  <a:pt x="2490234" y="0"/>
                </a:lnTo>
                <a:lnTo>
                  <a:pt x="2490234" y="3276623"/>
                </a:lnTo>
                <a:lnTo>
                  <a:pt x="0" y="3276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307105" y="6283301"/>
            <a:ext cx="4543877" cy="4305324"/>
          </a:xfrm>
          <a:custGeom>
            <a:avLst/>
            <a:gdLst/>
            <a:ahLst/>
            <a:cxnLst/>
            <a:rect r="r" b="b" t="t" l="l"/>
            <a:pathLst>
              <a:path h="4305324" w="4543877">
                <a:moveTo>
                  <a:pt x="0" y="0"/>
                </a:moveTo>
                <a:lnTo>
                  <a:pt x="4543877" y="0"/>
                </a:lnTo>
                <a:lnTo>
                  <a:pt x="4543877" y="4305324"/>
                </a:lnTo>
                <a:lnTo>
                  <a:pt x="0" y="430532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false" rot="-10218927">
            <a:off x="-49247" y="-285053"/>
            <a:ext cx="2490234" cy="3276624"/>
          </a:xfrm>
          <a:custGeom>
            <a:avLst/>
            <a:gdLst/>
            <a:ahLst/>
            <a:cxnLst/>
            <a:rect r="r" b="b" t="t" l="l"/>
            <a:pathLst>
              <a:path h="3276624" w="2490234">
                <a:moveTo>
                  <a:pt x="2490234" y="0"/>
                </a:moveTo>
                <a:lnTo>
                  <a:pt x="0" y="0"/>
                </a:lnTo>
                <a:lnTo>
                  <a:pt x="0" y="3276623"/>
                </a:lnTo>
                <a:lnTo>
                  <a:pt x="2490234" y="3276623"/>
                </a:lnTo>
                <a:lnTo>
                  <a:pt x="2490234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false" rot="7694981">
            <a:off x="2408526" y="-1346961"/>
            <a:ext cx="2490234" cy="3276624"/>
          </a:xfrm>
          <a:custGeom>
            <a:avLst/>
            <a:gdLst/>
            <a:ahLst/>
            <a:cxnLst/>
            <a:rect r="r" b="b" t="t" l="l"/>
            <a:pathLst>
              <a:path h="3276624" w="2490234">
                <a:moveTo>
                  <a:pt x="2490234" y="0"/>
                </a:moveTo>
                <a:lnTo>
                  <a:pt x="0" y="0"/>
                </a:lnTo>
                <a:lnTo>
                  <a:pt x="0" y="3276623"/>
                </a:lnTo>
                <a:lnTo>
                  <a:pt x="2490234" y="3276623"/>
                </a:lnTo>
                <a:lnTo>
                  <a:pt x="2490234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1026504" y="1028700"/>
            <a:ext cx="16230600" cy="8229600"/>
            <a:chOff x="0" y="0"/>
            <a:chExt cx="4274726" cy="216746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274726" cy="2167467"/>
            </a:xfrm>
            <a:custGeom>
              <a:avLst/>
              <a:gdLst/>
              <a:ahLst/>
              <a:cxnLst/>
              <a:rect r="r" b="b" t="t" l="l"/>
              <a:pathLst>
                <a:path h="2167467" w="4274726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E3A6A8"/>
            </a:solidFill>
            <a:ln w="38100" cap="rnd">
              <a:solidFill>
                <a:srgbClr val="A6A6A6"/>
              </a:solidFill>
              <a:prstDash val="solid"/>
              <a:round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57150"/>
              <a:ext cx="4274726" cy="22246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472477">
            <a:off x="15630383" y="47750"/>
            <a:ext cx="822623" cy="1824365"/>
          </a:xfrm>
          <a:custGeom>
            <a:avLst/>
            <a:gdLst/>
            <a:ahLst/>
            <a:cxnLst/>
            <a:rect r="r" b="b" t="t" l="l"/>
            <a:pathLst>
              <a:path h="1824365" w="822623">
                <a:moveTo>
                  <a:pt x="0" y="0"/>
                </a:moveTo>
                <a:lnTo>
                  <a:pt x="822622" y="0"/>
                </a:lnTo>
                <a:lnTo>
                  <a:pt x="822622" y="1824365"/>
                </a:lnTo>
                <a:lnTo>
                  <a:pt x="0" y="182436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912512" y="1258008"/>
            <a:ext cx="14084886" cy="2533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00"/>
              </a:lnSpc>
            </a:pPr>
            <a:r>
              <a:rPr lang="en-US" sz="8000">
                <a:solidFill>
                  <a:srgbClr val="000000"/>
                </a:solidFill>
                <a:latin typeface="Bryndan Write"/>
                <a:ea typeface="Bryndan Write"/>
                <a:cs typeface="Bryndan Write"/>
                <a:sym typeface="Bryndan Write"/>
              </a:rPr>
              <a:t>Recommended </a:t>
            </a:r>
          </a:p>
          <a:p>
            <a:pPr algn="ctr" marL="0" indent="0" lvl="0">
              <a:lnSpc>
                <a:spcPts val="9600"/>
              </a:lnSpc>
              <a:spcBef>
                <a:spcPct val="0"/>
              </a:spcBef>
            </a:pPr>
            <a:r>
              <a:rPr lang="en-US" sz="8000">
                <a:solidFill>
                  <a:srgbClr val="000000"/>
                </a:solidFill>
                <a:latin typeface="Bryndan Write"/>
                <a:ea typeface="Bryndan Write"/>
                <a:cs typeface="Bryndan Write"/>
                <a:sym typeface="Bryndan Write"/>
              </a:rPr>
              <a:t>Analysis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816905" y="4050030"/>
            <a:ext cx="12276099" cy="5208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Varela Round"/>
                <a:ea typeface="Varela Round"/>
                <a:cs typeface="Varela Round"/>
                <a:sym typeface="Varela Round"/>
              </a:rPr>
              <a:t>Which are the top 10 products by profit?</a:t>
            </a:r>
          </a:p>
          <a:p>
            <a:pPr algn="l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Varela Round"/>
                <a:ea typeface="Varela Round"/>
                <a:cs typeface="Varela Round"/>
                <a:sym typeface="Varela Round"/>
              </a:rPr>
              <a:t>Are there products with high sales volume but relatively low profit?</a:t>
            </a:r>
          </a:p>
          <a:p>
            <a:pPr algn="l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Varela Round"/>
                <a:ea typeface="Varela Round"/>
                <a:cs typeface="Varela Round"/>
                <a:sym typeface="Varela Round"/>
              </a:rPr>
              <a:t>Which country contributes the highest profit?</a:t>
            </a:r>
          </a:p>
          <a:p>
            <a:pPr algn="l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Varela Round"/>
                <a:ea typeface="Varela Round"/>
                <a:cs typeface="Varela Round"/>
                <a:sym typeface="Varela Round"/>
              </a:rPr>
              <a:t>Which countries are underperforming in terms of profit?</a:t>
            </a:r>
          </a:p>
          <a:p>
            <a:pPr algn="l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Varela Round"/>
                <a:ea typeface="Varela Round"/>
                <a:cs typeface="Varela Round"/>
                <a:sym typeface="Varela Round"/>
              </a:rPr>
              <a:t>Which product category contributes the largest share of profit?</a:t>
            </a:r>
          </a:p>
          <a:p>
            <a:pPr algn="l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Varela Round"/>
                <a:ea typeface="Varela Round"/>
                <a:cs typeface="Varela Round"/>
                <a:sym typeface="Varela Round"/>
              </a:rPr>
              <a:t>Should the business continue investing in low-performing categories?</a:t>
            </a:r>
          </a:p>
          <a:p>
            <a:pPr algn="l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Varela Round"/>
                <a:ea typeface="Varela Round"/>
                <a:cs typeface="Varela Round"/>
                <a:sym typeface="Varela Round"/>
              </a:rPr>
              <a:t>Which month has the highest and lowest profit?</a:t>
            </a:r>
          </a:p>
          <a:p>
            <a:pPr algn="ctr">
              <a:lnSpc>
                <a:spcPts val="4199"/>
              </a:lnSpc>
            </a:pPr>
          </a:p>
          <a:p>
            <a:pPr algn="ctr">
              <a:lnSpc>
                <a:spcPts val="419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333" r="0" b="-3333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698846" y="9239250"/>
            <a:ext cx="13298552" cy="1196870"/>
          </a:xfrm>
          <a:custGeom>
            <a:avLst/>
            <a:gdLst/>
            <a:ahLst/>
            <a:cxnLst/>
            <a:rect r="r" b="b" t="t" l="l"/>
            <a:pathLst>
              <a:path h="1196870" w="13298552">
                <a:moveTo>
                  <a:pt x="0" y="0"/>
                </a:moveTo>
                <a:lnTo>
                  <a:pt x="13298551" y="0"/>
                </a:lnTo>
                <a:lnTo>
                  <a:pt x="13298551" y="1196870"/>
                </a:lnTo>
                <a:lnTo>
                  <a:pt x="0" y="11968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81072">
            <a:off x="15539908" y="7294587"/>
            <a:ext cx="2490234" cy="3276624"/>
          </a:xfrm>
          <a:custGeom>
            <a:avLst/>
            <a:gdLst/>
            <a:ahLst/>
            <a:cxnLst/>
            <a:rect r="r" b="b" t="t" l="l"/>
            <a:pathLst>
              <a:path h="3276624" w="2490234">
                <a:moveTo>
                  <a:pt x="0" y="0"/>
                </a:moveTo>
                <a:lnTo>
                  <a:pt x="2490234" y="0"/>
                </a:lnTo>
                <a:lnTo>
                  <a:pt x="2490234" y="3276623"/>
                </a:lnTo>
                <a:lnTo>
                  <a:pt x="0" y="3276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3105018">
            <a:off x="13082135" y="8356495"/>
            <a:ext cx="2490234" cy="3276624"/>
          </a:xfrm>
          <a:custGeom>
            <a:avLst/>
            <a:gdLst/>
            <a:ahLst/>
            <a:cxnLst/>
            <a:rect r="r" b="b" t="t" l="l"/>
            <a:pathLst>
              <a:path h="3276624" w="2490234">
                <a:moveTo>
                  <a:pt x="0" y="0"/>
                </a:moveTo>
                <a:lnTo>
                  <a:pt x="2490234" y="0"/>
                </a:lnTo>
                <a:lnTo>
                  <a:pt x="2490234" y="3276623"/>
                </a:lnTo>
                <a:lnTo>
                  <a:pt x="0" y="3276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307105" y="6283301"/>
            <a:ext cx="4543877" cy="4305324"/>
          </a:xfrm>
          <a:custGeom>
            <a:avLst/>
            <a:gdLst/>
            <a:ahLst/>
            <a:cxnLst/>
            <a:rect r="r" b="b" t="t" l="l"/>
            <a:pathLst>
              <a:path h="4305324" w="4543877">
                <a:moveTo>
                  <a:pt x="0" y="0"/>
                </a:moveTo>
                <a:lnTo>
                  <a:pt x="4543877" y="0"/>
                </a:lnTo>
                <a:lnTo>
                  <a:pt x="4543877" y="4305324"/>
                </a:lnTo>
                <a:lnTo>
                  <a:pt x="0" y="430532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false" rot="-10218927">
            <a:off x="-49247" y="-285053"/>
            <a:ext cx="2490234" cy="3276624"/>
          </a:xfrm>
          <a:custGeom>
            <a:avLst/>
            <a:gdLst/>
            <a:ahLst/>
            <a:cxnLst/>
            <a:rect r="r" b="b" t="t" l="l"/>
            <a:pathLst>
              <a:path h="3276624" w="2490234">
                <a:moveTo>
                  <a:pt x="2490234" y="0"/>
                </a:moveTo>
                <a:lnTo>
                  <a:pt x="0" y="0"/>
                </a:lnTo>
                <a:lnTo>
                  <a:pt x="0" y="3276623"/>
                </a:lnTo>
                <a:lnTo>
                  <a:pt x="2490234" y="3276623"/>
                </a:lnTo>
                <a:lnTo>
                  <a:pt x="2490234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false" rot="7694981">
            <a:off x="2408526" y="-1346961"/>
            <a:ext cx="2490234" cy="3276624"/>
          </a:xfrm>
          <a:custGeom>
            <a:avLst/>
            <a:gdLst/>
            <a:ahLst/>
            <a:cxnLst/>
            <a:rect r="r" b="b" t="t" l="l"/>
            <a:pathLst>
              <a:path h="3276624" w="2490234">
                <a:moveTo>
                  <a:pt x="2490234" y="0"/>
                </a:moveTo>
                <a:lnTo>
                  <a:pt x="0" y="0"/>
                </a:lnTo>
                <a:lnTo>
                  <a:pt x="0" y="3276623"/>
                </a:lnTo>
                <a:lnTo>
                  <a:pt x="2490234" y="3276623"/>
                </a:lnTo>
                <a:lnTo>
                  <a:pt x="2490234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1026504" y="1028700"/>
            <a:ext cx="16230600" cy="8229600"/>
            <a:chOff x="0" y="0"/>
            <a:chExt cx="4274726" cy="216746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274726" cy="2167467"/>
            </a:xfrm>
            <a:custGeom>
              <a:avLst/>
              <a:gdLst/>
              <a:ahLst/>
              <a:cxnLst/>
              <a:rect r="r" b="b" t="t" l="l"/>
              <a:pathLst>
                <a:path h="2167467" w="4274726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E3A6A8"/>
            </a:solidFill>
            <a:ln w="38100" cap="rnd">
              <a:solidFill>
                <a:srgbClr val="A6A6A6"/>
              </a:solidFill>
              <a:prstDash val="solid"/>
              <a:round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57150"/>
              <a:ext cx="4274726" cy="22246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472477">
            <a:off x="15630383" y="47750"/>
            <a:ext cx="822623" cy="1824365"/>
          </a:xfrm>
          <a:custGeom>
            <a:avLst/>
            <a:gdLst/>
            <a:ahLst/>
            <a:cxnLst/>
            <a:rect r="r" b="b" t="t" l="l"/>
            <a:pathLst>
              <a:path h="1824365" w="822623">
                <a:moveTo>
                  <a:pt x="0" y="0"/>
                </a:moveTo>
                <a:lnTo>
                  <a:pt x="822622" y="0"/>
                </a:lnTo>
                <a:lnTo>
                  <a:pt x="822622" y="1824365"/>
                </a:lnTo>
                <a:lnTo>
                  <a:pt x="0" y="182436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2101557" y="1258008"/>
            <a:ext cx="14084886" cy="2533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00"/>
              </a:lnSpc>
            </a:pPr>
            <a:r>
              <a:rPr lang="en-US" sz="8000">
                <a:solidFill>
                  <a:srgbClr val="000000"/>
                </a:solidFill>
                <a:latin typeface="Bryndan Write"/>
                <a:ea typeface="Bryndan Write"/>
                <a:cs typeface="Bryndan Write"/>
                <a:sym typeface="Bryndan Write"/>
              </a:rPr>
              <a:t>Recommended </a:t>
            </a:r>
          </a:p>
          <a:p>
            <a:pPr algn="ctr" marL="0" indent="0" lvl="0">
              <a:lnSpc>
                <a:spcPts val="9600"/>
              </a:lnSpc>
              <a:spcBef>
                <a:spcPct val="0"/>
              </a:spcBef>
            </a:pPr>
            <a:r>
              <a:rPr lang="en-US" sz="8000">
                <a:solidFill>
                  <a:srgbClr val="000000"/>
                </a:solidFill>
                <a:latin typeface="Bryndan Write"/>
                <a:ea typeface="Bryndan Write"/>
                <a:cs typeface="Bryndan Write"/>
                <a:sym typeface="Bryndan Write"/>
              </a:rPr>
              <a:t>Analysis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3210072" y="3882744"/>
            <a:ext cx="12276099" cy="4674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</a:p>
          <a:p>
            <a:pPr algn="l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Varela Round"/>
                <a:ea typeface="Varela Round"/>
                <a:cs typeface="Varela Round"/>
                <a:sym typeface="Varela Round"/>
              </a:rPr>
              <a:t>How much profit comes from Adults vs Young Adults?</a:t>
            </a:r>
          </a:p>
          <a:p>
            <a:pPr algn="l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Varela Round"/>
                <a:ea typeface="Varela Round"/>
                <a:cs typeface="Varela Round"/>
                <a:sym typeface="Varela Round"/>
              </a:rPr>
              <a:t>Does customer gender impact profitability?</a:t>
            </a:r>
          </a:p>
          <a:p>
            <a:pPr algn="l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Varela Round"/>
                <a:ea typeface="Varela Round"/>
                <a:cs typeface="Varela Round"/>
                <a:sym typeface="Varela Round"/>
              </a:rPr>
              <a:t>Which subcategories should be prioritized for growth?</a:t>
            </a:r>
          </a:p>
          <a:p>
            <a:pPr algn="l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Varela Round"/>
                <a:ea typeface="Varela Round"/>
                <a:cs typeface="Varela Round"/>
                <a:sym typeface="Varela Round"/>
              </a:rPr>
              <a:t>Where should the company invest to maximize profit growth?</a:t>
            </a:r>
          </a:p>
          <a:p>
            <a:pPr algn="l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Varela Round"/>
                <a:ea typeface="Varela Round"/>
                <a:cs typeface="Varela Round"/>
                <a:sym typeface="Varela Round"/>
              </a:rPr>
              <a:t>Which products and regions should be targeted for promotions?</a:t>
            </a:r>
          </a:p>
          <a:p>
            <a:pPr algn="l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Varela Round"/>
                <a:ea typeface="Varela Round"/>
                <a:cs typeface="Varela Round"/>
                <a:sym typeface="Varela Round"/>
              </a:rPr>
              <a:t>What factors are driving high profit in top-performing categories?</a:t>
            </a:r>
          </a:p>
          <a:p>
            <a:pPr algn="l" marL="604519" indent="-302260" lvl="1">
              <a:lnSpc>
                <a:spcPts val="419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Varela Round"/>
                <a:ea typeface="Varela Round"/>
                <a:cs typeface="Varela Round"/>
                <a:sym typeface="Varela Round"/>
              </a:rPr>
              <a:t>Which areas represent the biggest opportunity for improvement?</a:t>
            </a:r>
          </a:p>
          <a:p>
            <a:pPr algn="ctr">
              <a:lnSpc>
                <a:spcPts val="419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333" r="0" b="-3333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81072">
            <a:off x="15539908" y="7294587"/>
            <a:ext cx="2490234" cy="3276624"/>
          </a:xfrm>
          <a:custGeom>
            <a:avLst/>
            <a:gdLst/>
            <a:ahLst/>
            <a:cxnLst/>
            <a:rect r="r" b="b" t="t" l="l"/>
            <a:pathLst>
              <a:path h="3276624" w="2490234">
                <a:moveTo>
                  <a:pt x="0" y="0"/>
                </a:moveTo>
                <a:lnTo>
                  <a:pt x="2490234" y="0"/>
                </a:lnTo>
                <a:lnTo>
                  <a:pt x="2490234" y="3276623"/>
                </a:lnTo>
                <a:lnTo>
                  <a:pt x="0" y="32766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307105" y="6283301"/>
            <a:ext cx="4543877" cy="4305324"/>
          </a:xfrm>
          <a:custGeom>
            <a:avLst/>
            <a:gdLst/>
            <a:ahLst/>
            <a:cxnLst/>
            <a:rect r="r" b="b" t="t" l="l"/>
            <a:pathLst>
              <a:path h="4305324" w="4543877">
                <a:moveTo>
                  <a:pt x="0" y="0"/>
                </a:moveTo>
                <a:lnTo>
                  <a:pt x="4543877" y="0"/>
                </a:lnTo>
                <a:lnTo>
                  <a:pt x="4543877" y="4305324"/>
                </a:lnTo>
                <a:lnTo>
                  <a:pt x="0" y="43053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406657" y="2946004"/>
            <a:ext cx="13474686" cy="4790024"/>
            <a:chOff x="0" y="0"/>
            <a:chExt cx="3548888" cy="126157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548888" cy="1261570"/>
            </a:xfrm>
            <a:custGeom>
              <a:avLst/>
              <a:gdLst/>
              <a:ahLst/>
              <a:cxnLst/>
              <a:rect r="r" b="b" t="t" l="l"/>
              <a:pathLst>
                <a:path h="1261570" w="3548888">
                  <a:moveTo>
                    <a:pt x="29302" y="0"/>
                  </a:moveTo>
                  <a:lnTo>
                    <a:pt x="3519586" y="0"/>
                  </a:lnTo>
                  <a:cubicBezTo>
                    <a:pt x="3527358" y="0"/>
                    <a:pt x="3534811" y="3087"/>
                    <a:pt x="3540306" y="8582"/>
                  </a:cubicBezTo>
                  <a:cubicBezTo>
                    <a:pt x="3545801" y="14078"/>
                    <a:pt x="3548888" y="21531"/>
                    <a:pt x="3548888" y="29302"/>
                  </a:cubicBezTo>
                  <a:lnTo>
                    <a:pt x="3548888" y="1232268"/>
                  </a:lnTo>
                  <a:cubicBezTo>
                    <a:pt x="3548888" y="1240039"/>
                    <a:pt x="3545801" y="1247493"/>
                    <a:pt x="3540306" y="1252988"/>
                  </a:cubicBezTo>
                  <a:cubicBezTo>
                    <a:pt x="3534811" y="1258483"/>
                    <a:pt x="3527358" y="1261570"/>
                    <a:pt x="3519586" y="1261570"/>
                  </a:cubicBezTo>
                  <a:lnTo>
                    <a:pt x="29302" y="1261570"/>
                  </a:lnTo>
                  <a:cubicBezTo>
                    <a:pt x="13119" y="1261570"/>
                    <a:pt x="0" y="1248451"/>
                    <a:pt x="0" y="1232268"/>
                  </a:cubicBezTo>
                  <a:lnTo>
                    <a:pt x="0" y="29302"/>
                  </a:lnTo>
                  <a:cubicBezTo>
                    <a:pt x="0" y="13119"/>
                    <a:pt x="13119" y="0"/>
                    <a:pt x="29302" y="0"/>
                  </a:cubicBezTo>
                  <a:close/>
                </a:path>
              </a:pathLst>
            </a:custGeom>
            <a:solidFill>
              <a:srgbClr val="E3A6A8"/>
            </a:solidFill>
            <a:ln w="38100" cap="rnd">
              <a:solidFill>
                <a:srgbClr val="A6A6A6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3548888" cy="13187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472477">
            <a:off x="14461725" y="1786517"/>
            <a:ext cx="913498" cy="2025902"/>
          </a:xfrm>
          <a:custGeom>
            <a:avLst/>
            <a:gdLst/>
            <a:ahLst/>
            <a:cxnLst/>
            <a:rect r="r" b="b" t="t" l="l"/>
            <a:pathLst>
              <a:path h="2025902" w="913498">
                <a:moveTo>
                  <a:pt x="0" y="0"/>
                </a:moveTo>
                <a:lnTo>
                  <a:pt x="913498" y="0"/>
                </a:lnTo>
                <a:lnTo>
                  <a:pt x="913498" y="2025902"/>
                </a:lnTo>
                <a:lnTo>
                  <a:pt x="0" y="202590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2582791" y="7736029"/>
            <a:ext cx="13298552" cy="1196870"/>
          </a:xfrm>
          <a:custGeom>
            <a:avLst/>
            <a:gdLst/>
            <a:ahLst/>
            <a:cxnLst/>
            <a:rect r="r" b="b" t="t" l="l"/>
            <a:pathLst>
              <a:path h="1196870" w="13298552">
                <a:moveTo>
                  <a:pt x="0" y="0"/>
                </a:moveTo>
                <a:lnTo>
                  <a:pt x="13298552" y="0"/>
                </a:lnTo>
                <a:lnTo>
                  <a:pt x="13298552" y="1196869"/>
                </a:lnTo>
                <a:lnTo>
                  <a:pt x="0" y="11968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3105018">
            <a:off x="13082135" y="8356495"/>
            <a:ext cx="2490234" cy="3276624"/>
          </a:xfrm>
          <a:custGeom>
            <a:avLst/>
            <a:gdLst/>
            <a:ahLst/>
            <a:cxnLst/>
            <a:rect r="r" b="b" t="t" l="l"/>
            <a:pathLst>
              <a:path h="3276624" w="2490234">
                <a:moveTo>
                  <a:pt x="0" y="0"/>
                </a:moveTo>
                <a:lnTo>
                  <a:pt x="2490234" y="0"/>
                </a:lnTo>
                <a:lnTo>
                  <a:pt x="2490234" y="3276623"/>
                </a:lnTo>
                <a:lnTo>
                  <a:pt x="0" y="32766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3457593" y="4613307"/>
            <a:ext cx="11548948" cy="1455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560"/>
              </a:lnSpc>
            </a:pPr>
            <a:r>
              <a:rPr lang="en-US" sz="9600">
                <a:solidFill>
                  <a:srgbClr val="000000"/>
                </a:solidFill>
                <a:latin typeface="Bryndan Write"/>
                <a:ea typeface="Bryndan Write"/>
                <a:cs typeface="Bryndan Write"/>
                <a:sym typeface="Bryndan Write"/>
              </a:rPr>
              <a:t>THANK YOU</a:t>
            </a:r>
          </a:p>
        </p:txBody>
      </p:sp>
      <p:sp>
        <p:nvSpPr>
          <p:cNvPr name="Freeform 12" id="12"/>
          <p:cNvSpPr/>
          <p:nvPr/>
        </p:nvSpPr>
        <p:spPr>
          <a:xfrm flipH="true" flipV="false" rot="-10218927">
            <a:off x="-49247" y="-285053"/>
            <a:ext cx="2490234" cy="3276624"/>
          </a:xfrm>
          <a:custGeom>
            <a:avLst/>
            <a:gdLst/>
            <a:ahLst/>
            <a:cxnLst/>
            <a:rect r="r" b="b" t="t" l="l"/>
            <a:pathLst>
              <a:path h="3276624" w="2490234">
                <a:moveTo>
                  <a:pt x="2490234" y="0"/>
                </a:moveTo>
                <a:lnTo>
                  <a:pt x="0" y="0"/>
                </a:lnTo>
                <a:lnTo>
                  <a:pt x="0" y="3276623"/>
                </a:lnTo>
                <a:lnTo>
                  <a:pt x="2490234" y="3276623"/>
                </a:lnTo>
                <a:lnTo>
                  <a:pt x="2490234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7694981">
            <a:off x="2408526" y="-1346961"/>
            <a:ext cx="2490234" cy="3276624"/>
          </a:xfrm>
          <a:custGeom>
            <a:avLst/>
            <a:gdLst/>
            <a:ahLst/>
            <a:cxnLst/>
            <a:rect r="r" b="b" t="t" l="l"/>
            <a:pathLst>
              <a:path h="3276624" w="2490234">
                <a:moveTo>
                  <a:pt x="2490234" y="0"/>
                </a:moveTo>
                <a:lnTo>
                  <a:pt x="0" y="0"/>
                </a:lnTo>
                <a:lnTo>
                  <a:pt x="0" y="3276623"/>
                </a:lnTo>
                <a:lnTo>
                  <a:pt x="2490234" y="3276623"/>
                </a:lnTo>
                <a:lnTo>
                  <a:pt x="2490234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DAG-TqULV1Y</dc:identifier>
  <dcterms:modified xsi:type="dcterms:W3CDTF">2011-08-01T06:04:30Z</dcterms:modified>
  <cp:revision>1</cp:revision>
  <dc:title>White Pink Fun Abstract Group Project Presentation </dc:title>
</cp:coreProperties>
</file>