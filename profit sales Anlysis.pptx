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Bryndan Write" panose="020B0604020202020204" charset="0"/>
      <p:regular r:id="rId7"/>
    </p:embeddedFont>
    <p:embeddedFont>
      <p:font typeface="Varela Round" panose="00000500000000000000" pitchFamily="2" charset="-79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 rot="581072">
            <a:off x="15539908" y="7294587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07105" y="6283301"/>
            <a:ext cx="4543877" cy="4305324"/>
          </a:xfrm>
          <a:custGeom>
            <a:avLst/>
            <a:gdLst/>
            <a:ahLst/>
            <a:cxnLst/>
            <a:rect l="l" t="t" r="r" b="b"/>
            <a:pathLst>
              <a:path w="4543877" h="4305324">
                <a:moveTo>
                  <a:pt x="0" y="0"/>
                </a:moveTo>
                <a:lnTo>
                  <a:pt x="4543877" y="0"/>
                </a:lnTo>
                <a:lnTo>
                  <a:pt x="4543877" y="4305324"/>
                </a:lnTo>
                <a:lnTo>
                  <a:pt x="0" y="4305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06657" y="2946004"/>
            <a:ext cx="13474686" cy="4790024"/>
            <a:chOff x="0" y="0"/>
            <a:chExt cx="3548888" cy="1261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48888" cy="1261570"/>
            </a:xfrm>
            <a:custGeom>
              <a:avLst/>
              <a:gdLst/>
              <a:ahLst/>
              <a:cxnLst/>
              <a:rect l="l" t="t" r="r" b="b"/>
              <a:pathLst>
                <a:path w="3548888" h="1261570">
                  <a:moveTo>
                    <a:pt x="29302" y="0"/>
                  </a:moveTo>
                  <a:lnTo>
                    <a:pt x="3519586" y="0"/>
                  </a:lnTo>
                  <a:cubicBezTo>
                    <a:pt x="3527358" y="0"/>
                    <a:pt x="3534811" y="3087"/>
                    <a:pt x="3540306" y="8582"/>
                  </a:cubicBezTo>
                  <a:cubicBezTo>
                    <a:pt x="3545801" y="14078"/>
                    <a:pt x="3548888" y="21531"/>
                    <a:pt x="3548888" y="29302"/>
                  </a:cubicBezTo>
                  <a:lnTo>
                    <a:pt x="3548888" y="1232268"/>
                  </a:lnTo>
                  <a:cubicBezTo>
                    <a:pt x="3548888" y="1240039"/>
                    <a:pt x="3545801" y="1247493"/>
                    <a:pt x="3540306" y="1252988"/>
                  </a:cubicBezTo>
                  <a:cubicBezTo>
                    <a:pt x="3534811" y="1258483"/>
                    <a:pt x="3527358" y="1261570"/>
                    <a:pt x="3519586" y="1261570"/>
                  </a:cubicBezTo>
                  <a:lnTo>
                    <a:pt x="29302" y="1261570"/>
                  </a:lnTo>
                  <a:cubicBezTo>
                    <a:pt x="13119" y="1261570"/>
                    <a:pt x="0" y="1248451"/>
                    <a:pt x="0" y="1232268"/>
                  </a:cubicBezTo>
                  <a:lnTo>
                    <a:pt x="0" y="29302"/>
                  </a:lnTo>
                  <a:cubicBezTo>
                    <a:pt x="0" y="13119"/>
                    <a:pt x="13119" y="0"/>
                    <a:pt x="29302" y="0"/>
                  </a:cubicBezTo>
                  <a:close/>
                </a:path>
              </a:pathLst>
            </a:custGeom>
            <a:solidFill>
              <a:srgbClr val="E3A6A8"/>
            </a:solidFill>
            <a:ln w="3810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548888" cy="1318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472477">
            <a:off x="14461725" y="1786517"/>
            <a:ext cx="913498" cy="2025902"/>
          </a:xfrm>
          <a:custGeom>
            <a:avLst/>
            <a:gdLst/>
            <a:ahLst/>
            <a:cxnLst/>
            <a:rect l="l" t="t" r="r" b="b"/>
            <a:pathLst>
              <a:path w="913498" h="2025902">
                <a:moveTo>
                  <a:pt x="0" y="0"/>
                </a:moveTo>
                <a:lnTo>
                  <a:pt x="913498" y="0"/>
                </a:lnTo>
                <a:lnTo>
                  <a:pt x="913498" y="2025902"/>
                </a:lnTo>
                <a:lnTo>
                  <a:pt x="0" y="20259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82791" y="7736029"/>
            <a:ext cx="13298552" cy="1196870"/>
          </a:xfrm>
          <a:custGeom>
            <a:avLst/>
            <a:gdLst/>
            <a:ahLst/>
            <a:cxnLst/>
            <a:rect l="l" t="t" r="r" b="b"/>
            <a:pathLst>
              <a:path w="13298552" h="1196870">
                <a:moveTo>
                  <a:pt x="0" y="0"/>
                </a:moveTo>
                <a:lnTo>
                  <a:pt x="13298552" y="0"/>
                </a:lnTo>
                <a:lnTo>
                  <a:pt x="13298552" y="1196869"/>
                </a:lnTo>
                <a:lnTo>
                  <a:pt x="0" y="11968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3105018">
            <a:off x="13082135" y="8356495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218927" flipH="1">
            <a:off x="-49247" y="-285053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7694981" flipH="1">
            <a:off x="2408526" y="-1346961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312589" y="5981676"/>
            <a:ext cx="1386318" cy="917599"/>
          </a:xfrm>
          <a:custGeom>
            <a:avLst/>
            <a:gdLst/>
            <a:ahLst/>
            <a:cxnLst/>
            <a:rect l="l" t="t" r="r" b="b"/>
            <a:pathLst>
              <a:path w="1386318" h="917599">
                <a:moveTo>
                  <a:pt x="0" y="0"/>
                </a:moveTo>
                <a:lnTo>
                  <a:pt x="1386318" y="0"/>
                </a:lnTo>
                <a:lnTo>
                  <a:pt x="1386318" y="917599"/>
                </a:lnTo>
                <a:lnTo>
                  <a:pt x="0" y="9175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369526" y="3466399"/>
            <a:ext cx="11548948" cy="278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60"/>
              </a:lnSpc>
            </a:pPr>
            <a:r>
              <a:rPr lang="en-US" sz="96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PROFIT ANALYSIS OF BIKE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98846" y="9239250"/>
            <a:ext cx="13298552" cy="1196870"/>
          </a:xfrm>
          <a:custGeom>
            <a:avLst/>
            <a:gdLst/>
            <a:ahLst/>
            <a:cxnLst/>
            <a:rect l="l" t="t" r="r" b="b"/>
            <a:pathLst>
              <a:path w="13298552" h="1196870">
                <a:moveTo>
                  <a:pt x="0" y="0"/>
                </a:moveTo>
                <a:lnTo>
                  <a:pt x="13298551" y="0"/>
                </a:lnTo>
                <a:lnTo>
                  <a:pt x="13298551" y="1196870"/>
                </a:lnTo>
                <a:lnTo>
                  <a:pt x="0" y="1196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81072">
            <a:off x="15539908" y="7294587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105018">
            <a:off x="13082135" y="8356495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7105" y="6283301"/>
            <a:ext cx="4543877" cy="4305324"/>
          </a:xfrm>
          <a:custGeom>
            <a:avLst/>
            <a:gdLst/>
            <a:ahLst/>
            <a:cxnLst/>
            <a:rect l="l" t="t" r="r" b="b"/>
            <a:pathLst>
              <a:path w="4543877" h="4305324">
                <a:moveTo>
                  <a:pt x="0" y="0"/>
                </a:moveTo>
                <a:lnTo>
                  <a:pt x="4543877" y="0"/>
                </a:lnTo>
                <a:lnTo>
                  <a:pt x="4543877" y="4305324"/>
                </a:lnTo>
                <a:lnTo>
                  <a:pt x="0" y="430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218927" flipH="1">
            <a:off x="-49247" y="-285053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694981" flipH="1">
            <a:off x="2408526" y="-1346961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6504" y="1028700"/>
            <a:ext cx="16230600" cy="8229600"/>
            <a:chOff x="0" y="0"/>
            <a:chExt cx="42747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3A6A8"/>
            </a:solidFill>
            <a:ln w="3810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472477">
            <a:off x="15630383" y="47750"/>
            <a:ext cx="822623" cy="1824365"/>
          </a:xfrm>
          <a:custGeom>
            <a:avLst/>
            <a:gdLst/>
            <a:ahLst/>
            <a:cxnLst/>
            <a:rect l="l" t="t" r="r" b="b"/>
            <a:pathLst>
              <a:path w="822623" h="1824365">
                <a:moveTo>
                  <a:pt x="0" y="0"/>
                </a:moveTo>
                <a:lnTo>
                  <a:pt x="822622" y="0"/>
                </a:lnTo>
                <a:lnTo>
                  <a:pt x="822622" y="1824365"/>
                </a:lnTo>
                <a:lnTo>
                  <a:pt x="0" y="18243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099361" y="2188178"/>
            <a:ext cx="14084886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55496" y="4294893"/>
            <a:ext cx="12353352" cy="247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26"/>
              </a:lnSpc>
              <a:spcBef>
                <a:spcPct val="0"/>
              </a:spcBef>
            </a:pPr>
            <a:r>
              <a:rPr lang="en-US" sz="4417" dirty="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The main objective of this project is to analyze bike sales data to gain actionable insights that will enhance the performance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98846" y="9239250"/>
            <a:ext cx="13298552" cy="1196870"/>
          </a:xfrm>
          <a:custGeom>
            <a:avLst/>
            <a:gdLst/>
            <a:ahLst/>
            <a:cxnLst/>
            <a:rect l="l" t="t" r="r" b="b"/>
            <a:pathLst>
              <a:path w="13298552" h="1196870">
                <a:moveTo>
                  <a:pt x="0" y="0"/>
                </a:moveTo>
                <a:lnTo>
                  <a:pt x="13298551" y="0"/>
                </a:lnTo>
                <a:lnTo>
                  <a:pt x="13298551" y="1196870"/>
                </a:lnTo>
                <a:lnTo>
                  <a:pt x="0" y="1196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81072">
            <a:off x="15539908" y="7294587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105018">
            <a:off x="13082135" y="8356495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7105" y="6283301"/>
            <a:ext cx="4543877" cy="4305324"/>
          </a:xfrm>
          <a:custGeom>
            <a:avLst/>
            <a:gdLst/>
            <a:ahLst/>
            <a:cxnLst/>
            <a:rect l="l" t="t" r="r" b="b"/>
            <a:pathLst>
              <a:path w="4543877" h="4305324">
                <a:moveTo>
                  <a:pt x="0" y="0"/>
                </a:moveTo>
                <a:lnTo>
                  <a:pt x="4543877" y="0"/>
                </a:lnTo>
                <a:lnTo>
                  <a:pt x="4543877" y="4305324"/>
                </a:lnTo>
                <a:lnTo>
                  <a:pt x="0" y="430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218927" flipH="1">
            <a:off x="-49247" y="-285053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694981" flipH="1">
            <a:off x="2408526" y="-1346961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6504" y="1028700"/>
            <a:ext cx="16230600" cy="8229600"/>
            <a:chOff x="0" y="0"/>
            <a:chExt cx="42747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3A6A8"/>
            </a:solidFill>
            <a:ln w="3810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472477">
            <a:off x="15630383" y="47750"/>
            <a:ext cx="822623" cy="1824365"/>
          </a:xfrm>
          <a:custGeom>
            <a:avLst/>
            <a:gdLst/>
            <a:ahLst/>
            <a:cxnLst/>
            <a:rect l="l" t="t" r="r" b="b"/>
            <a:pathLst>
              <a:path w="822623" h="1824365">
                <a:moveTo>
                  <a:pt x="0" y="0"/>
                </a:moveTo>
                <a:lnTo>
                  <a:pt x="822622" y="0"/>
                </a:lnTo>
                <a:lnTo>
                  <a:pt x="822622" y="1824365"/>
                </a:lnTo>
                <a:lnTo>
                  <a:pt x="0" y="18243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12512" y="1258008"/>
            <a:ext cx="14084886" cy="253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Recommended </a:t>
            </a:r>
          </a:p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16905" y="4050030"/>
            <a:ext cx="12276099" cy="520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Which are the top 10 products by profit?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Are there products with high sales volume but relatively low profit?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Which country contributes the highest profit?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Which countries are underperforming in terms of profit?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Which product category contributes the largest share of profit?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Should the business continue investing in low-performing categories?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Which month has the highest and lowest profit?</a:t>
            </a:r>
          </a:p>
          <a:p>
            <a:pPr algn="ctr">
              <a:lnSpc>
                <a:spcPts val="4199"/>
              </a:lnSpc>
            </a:pPr>
            <a:endParaRPr lang="en-US" sz="2799">
              <a:solidFill>
                <a:srgbClr val="000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98846" y="9239250"/>
            <a:ext cx="13298552" cy="1196870"/>
          </a:xfrm>
          <a:custGeom>
            <a:avLst/>
            <a:gdLst/>
            <a:ahLst/>
            <a:cxnLst/>
            <a:rect l="l" t="t" r="r" b="b"/>
            <a:pathLst>
              <a:path w="13298552" h="1196870">
                <a:moveTo>
                  <a:pt x="0" y="0"/>
                </a:moveTo>
                <a:lnTo>
                  <a:pt x="13298551" y="0"/>
                </a:lnTo>
                <a:lnTo>
                  <a:pt x="13298551" y="1196870"/>
                </a:lnTo>
                <a:lnTo>
                  <a:pt x="0" y="1196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81072">
            <a:off x="15539908" y="7294587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105018">
            <a:off x="13082135" y="8356495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7105" y="6283301"/>
            <a:ext cx="4543877" cy="4305324"/>
          </a:xfrm>
          <a:custGeom>
            <a:avLst/>
            <a:gdLst/>
            <a:ahLst/>
            <a:cxnLst/>
            <a:rect l="l" t="t" r="r" b="b"/>
            <a:pathLst>
              <a:path w="4543877" h="4305324">
                <a:moveTo>
                  <a:pt x="0" y="0"/>
                </a:moveTo>
                <a:lnTo>
                  <a:pt x="4543877" y="0"/>
                </a:lnTo>
                <a:lnTo>
                  <a:pt x="4543877" y="4305324"/>
                </a:lnTo>
                <a:lnTo>
                  <a:pt x="0" y="4305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218927" flipH="1">
            <a:off x="-49247" y="-285053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694981" flipH="1">
            <a:off x="2408526" y="-1346961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6504" y="1028700"/>
            <a:ext cx="16230600" cy="8229600"/>
            <a:chOff x="0" y="0"/>
            <a:chExt cx="42747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3A6A8"/>
            </a:solidFill>
            <a:ln w="3810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472477">
            <a:off x="15630383" y="47750"/>
            <a:ext cx="822623" cy="1824365"/>
          </a:xfrm>
          <a:custGeom>
            <a:avLst/>
            <a:gdLst/>
            <a:ahLst/>
            <a:cxnLst/>
            <a:rect l="l" t="t" r="r" b="b"/>
            <a:pathLst>
              <a:path w="822623" h="1824365">
                <a:moveTo>
                  <a:pt x="0" y="0"/>
                </a:moveTo>
                <a:lnTo>
                  <a:pt x="822622" y="0"/>
                </a:lnTo>
                <a:lnTo>
                  <a:pt x="822622" y="1824365"/>
                </a:lnTo>
                <a:lnTo>
                  <a:pt x="0" y="18243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01557" y="1258008"/>
            <a:ext cx="14084886" cy="253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Recommended </a:t>
            </a:r>
          </a:p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10072" y="3882744"/>
            <a:ext cx="12276099" cy="467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endParaRPr/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How much profit comes from Adults vs Young Adults?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Does customer gender impact profitability?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Which subcategories should be prioritized for growth?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Where should the company invest to maximize profit growth?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Which products and regions should be targeted for promotions?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What factors are driving high profit in top-performing categories?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Which areas represent the biggest opportunity for improvement?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 rot="581072">
            <a:off x="15539908" y="7294587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07105" y="6283301"/>
            <a:ext cx="4543877" cy="4305324"/>
          </a:xfrm>
          <a:custGeom>
            <a:avLst/>
            <a:gdLst/>
            <a:ahLst/>
            <a:cxnLst/>
            <a:rect l="l" t="t" r="r" b="b"/>
            <a:pathLst>
              <a:path w="4543877" h="4305324">
                <a:moveTo>
                  <a:pt x="0" y="0"/>
                </a:moveTo>
                <a:lnTo>
                  <a:pt x="4543877" y="0"/>
                </a:lnTo>
                <a:lnTo>
                  <a:pt x="4543877" y="4305324"/>
                </a:lnTo>
                <a:lnTo>
                  <a:pt x="0" y="4305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06657" y="2946004"/>
            <a:ext cx="13474686" cy="4790024"/>
            <a:chOff x="0" y="0"/>
            <a:chExt cx="3548888" cy="1261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48888" cy="1261570"/>
            </a:xfrm>
            <a:custGeom>
              <a:avLst/>
              <a:gdLst/>
              <a:ahLst/>
              <a:cxnLst/>
              <a:rect l="l" t="t" r="r" b="b"/>
              <a:pathLst>
                <a:path w="3548888" h="1261570">
                  <a:moveTo>
                    <a:pt x="29302" y="0"/>
                  </a:moveTo>
                  <a:lnTo>
                    <a:pt x="3519586" y="0"/>
                  </a:lnTo>
                  <a:cubicBezTo>
                    <a:pt x="3527358" y="0"/>
                    <a:pt x="3534811" y="3087"/>
                    <a:pt x="3540306" y="8582"/>
                  </a:cubicBezTo>
                  <a:cubicBezTo>
                    <a:pt x="3545801" y="14078"/>
                    <a:pt x="3548888" y="21531"/>
                    <a:pt x="3548888" y="29302"/>
                  </a:cubicBezTo>
                  <a:lnTo>
                    <a:pt x="3548888" y="1232268"/>
                  </a:lnTo>
                  <a:cubicBezTo>
                    <a:pt x="3548888" y="1240039"/>
                    <a:pt x="3545801" y="1247493"/>
                    <a:pt x="3540306" y="1252988"/>
                  </a:cubicBezTo>
                  <a:cubicBezTo>
                    <a:pt x="3534811" y="1258483"/>
                    <a:pt x="3527358" y="1261570"/>
                    <a:pt x="3519586" y="1261570"/>
                  </a:cubicBezTo>
                  <a:lnTo>
                    <a:pt x="29302" y="1261570"/>
                  </a:lnTo>
                  <a:cubicBezTo>
                    <a:pt x="13119" y="1261570"/>
                    <a:pt x="0" y="1248451"/>
                    <a:pt x="0" y="1232268"/>
                  </a:cubicBezTo>
                  <a:lnTo>
                    <a:pt x="0" y="29302"/>
                  </a:lnTo>
                  <a:cubicBezTo>
                    <a:pt x="0" y="13119"/>
                    <a:pt x="13119" y="0"/>
                    <a:pt x="29302" y="0"/>
                  </a:cubicBezTo>
                  <a:close/>
                </a:path>
              </a:pathLst>
            </a:custGeom>
            <a:solidFill>
              <a:srgbClr val="E3A6A8"/>
            </a:solidFill>
            <a:ln w="3810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548888" cy="1318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472477">
            <a:off x="14461725" y="1786517"/>
            <a:ext cx="913498" cy="2025902"/>
          </a:xfrm>
          <a:custGeom>
            <a:avLst/>
            <a:gdLst/>
            <a:ahLst/>
            <a:cxnLst/>
            <a:rect l="l" t="t" r="r" b="b"/>
            <a:pathLst>
              <a:path w="913498" h="2025902">
                <a:moveTo>
                  <a:pt x="0" y="0"/>
                </a:moveTo>
                <a:lnTo>
                  <a:pt x="913498" y="0"/>
                </a:lnTo>
                <a:lnTo>
                  <a:pt x="913498" y="2025902"/>
                </a:lnTo>
                <a:lnTo>
                  <a:pt x="0" y="20259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82791" y="7736029"/>
            <a:ext cx="13298552" cy="1196870"/>
          </a:xfrm>
          <a:custGeom>
            <a:avLst/>
            <a:gdLst/>
            <a:ahLst/>
            <a:cxnLst/>
            <a:rect l="l" t="t" r="r" b="b"/>
            <a:pathLst>
              <a:path w="13298552" h="1196870">
                <a:moveTo>
                  <a:pt x="0" y="0"/>
                </a:moveTo>
                <a:lnTo>
                  <a:pt x="13298552" y="0"/>
                </a:lnTo>
                <a:lnTo>
                  <a:pt x="13298552" y="1196869"/>
                </a:lnTo>
                <a:lnTo>
                  <a:pt x="0" y="11968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3105018">
            <a:off x="13082135" y="8356495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0" y="0"/>
                </a:moveTo>
                <a:lnTo>
                  <a:pt x="2490234" y="0"/>
                </a:lnTo>
                <a:lnTo>
                  <a:pt x="2490234" y="3276623"/>
                </a:lnTo>
                <a:lnTo>
                  <a:pt x="0" y="327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57593" y="4613307"/>
            <a:ext cx="11548948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60"/>
              </a:lnSpc>
            </a:pPr>
            <a:r>
              <a:rPr lang="en-US" sz="960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THANK YOU</a:t>
            </a:r>
          </a:p>
        </p:txBody>
      </p:sp>
      <p:sp>
        <p:nvSpPr>
          <p:cNvPr id="12" name="Freeform 12"/>
          <p:cNvSpPr/>
          <p:nvPr/>
        </p:nvSpPr>
        <p:spPr>
          <a:xfrm rot="-10218927" flipH="1">
            <a:off x="-49247" y="-285053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7694981" flipH="1">
            <a:off x="2408526" y="-1346961"/>
            <a:ext cx="2490234" cy="3276624"/>
          </a:xfrm>
          <a:custGeom>
            <a:avLst/>
            <a:gdLst/>
            <a:ahLst/>
            <a:cxnLst/>
            <a:rect l="l" t="t" r="r" b="b"/>
            <a:pathLst>
              <a:path w="2490234" h="3276624">
                <a:moveTo>
                  <a:pt x="2490234" y="0"/>
                </a:moveTo>
                <a:lnTo>
                  <a:pt x="0" y="0"/>
                </a:lnTo>
                <a:lnTo>
                  <a:pt x="0" y="3276623"/>
                </a:lnTo>
                <a:lnTo>
                  <a:pt x="2490234" y="3276623"/>
                </a:lnTo>
                <a:lnTo>
                  <a:pt x="249023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Custom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Varela Round</vt:lpstr>
      <vt:lpstr>Bryndan Write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Fun Abstract Group Project Presentation </dc:title>
  <cp:lastModifiedBy>Gauri Raykar</cp:lastModifiedBy>
  <cp:revision>2</cp:revision>
  <dcterms:created xsi:type="dcterms:W3CDTF">2006-08-16T00:00:00Z</dcterms:created>
  <dcterms:modified xsi:type="dcterms:W3CDTF">2026-01-13T16:04:43Z</dcterms:modified>
  <dc:identifier>DAG-TqULV1Y</dc:identifier>
</cp:coreProperties>
</file>